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Rubik"/>
      <p:regular r:id="rId22"/>
      <p:bold r:id="rId23"/>
      <p:italic r:id="rId24"/>
      <p:boldItalic r:id="rId25"/>
    </p:embeddedFont>
    <p:embeddedFont>
      <p:font typeface="DM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6120E8-661B-42B5-9AA2-B65FCCC5386C}">
  <a:tblStyle styleId="{686120E8-661B-42B5-9AA2-B65FCCC538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Rubik-regular.fntdata"/><Relationship Id="rId21" Type="http://schemas.openxmlformats.org/officeDocument/2006/relationships/slide" Target="slides/slide14.xml"/><Relationship Id="rId24" Type="http://schemas.openxmlformats.org/officeDocument/2006/relationships/font" Target="fonts/Rubik-italic.fntdata"/><Relationship Id="rId23" Type="http://schemas.openxmlformats.org/officeDocument/2006/relationships/font" Target="fonts/Rubik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DMSans-regular.fntdata"/><Relationship Id="rId25" Type="http://schemas.openxmlformats.org/officeDocument/2006/relationships/font" Target="fonts/Rubik-boldItalic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DMSans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85945c1b8_2_7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1" name="Google Shape;131;g3985945c1b8_2_7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2" name="Google Shape;132;g3985945c1b8_2_7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985945c1b8_2_7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985945c1b8_2_7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5" name="Google Shape;135;g3985945c1b8_2_7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64a556a07_0_13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64a556a07_0_13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bbe19a70a_0_503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abbe19a70a_0_503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bbe19a70a_0_100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abbe19a70a_0_1006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bbe19a70a_0_102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abbe19a70a_0_1025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bbe19a70a_0_1047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abbe19a70a_0_1047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bbe19a70a_0_1057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abbe19a70a_0_1057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bbe19a70a_0_1089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abbe19a70a_0_1089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bbe19a70a_0_107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abbe19a70a_0_1076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bbe19a70a_0_1103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abbe19a70a_0_1103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bbe19a70a_0_111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abbe19a70a_0_1111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bbe19a70a_0_112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abbe19a70a_0_1122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bbe19a70a_0_113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abbe19a70a_0_1131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bbe19a70a_0_1143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abbe19a70a_0_1143:notes"/>
          <p:cNvSpPr/>
          <p:nvPr>
            <p:ph idx="2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1pPr>
            <a:lvl2pPr indent="-317500" lvl="1" marL="914400"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indent="-304800" lvl="2" marL="1371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3pPr>
            <a:lvl4pPr indent="-292100" lvl="3" marL="1828800">
              <a:spcBef>
                <a:spcPts val="200"/>
              </a:spcBef>
              <a:spcAft>
                <a:spcPts val="0"/>
              </a:spcAft>
              <a:buSzPts val="1000"/>
              <a:buChar char="–"/>
              <a:defRPr/>
            </a:lvl4pPr>
            <a:lvl5pPr indent="-292100" lvl="4" marL="2286000">
              <a:spcBef>
                <a:spcPts val="200"/>
              </a:spcBef>
              <a:spcAft>
                <a:spcPts val="0"/>
              </a:spcAft>
              <a:buSzPts val="1000"/>
              <a:buChar char="»"/>
              <a:defRPr/>
            </a:lvl5pPr>
            <a:lvl6pPr indent="-292100" lvl="5" marL="27432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6pPr>
            <a:lvl7pPr indent="-292100" lvl="6" marL="32004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7pPr>
            <a:lvl8pPr indent="-292100" lvl="7" marL="36576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8pPr>
            <a:lvl9pPr indent="-292100" lvl="8" marL="41148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1CD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/>
        </p:nvSpPr>
        <p:spPr>
          <a:xfrm>
            <a:off x="2444447" y="933125"/>
            <a:ext cx="43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The </a:t>
            </a:r>
            <a:r>
              <a:rPr lang="en-GB" sz="3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ISTP </a:t>
            </a:r>
            <a:r>
              <a:rPr lang="en-GB" sz="3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Framework</a:t>
            </a:r>
            <a:r>
              <a:rPr lang="en-GB" sz="3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38" name="Google Shape;138;p26"/>
          <p:cNvSpPr txBox="1"/>
          <p:nvPr/>
        </p:nvSpPr>
        <p:spPr>
          <a:xfrm>
            <a:off x="8251513" y="4881450"/>
            <a:ext cx="510000" cy="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mGanik.com</a:t>
            </a:r>
            <a:endParaRPr sz="700"/>
          </a:p>
        </p:txBody>
      </p:sp>
      <p:sp>
        <p:nvSpPr>
          <p:cNvPr id="139" name="Google Shape;139;p26"/>
          <p:cNvSpPr/>
          <p:nvPr/>
        </p:nvSpPr>
        <p:spPr>
          <a:xfrm rot="446290">
            <a:off x="1501379" y="2589365"/>
            <a:ext cx="2728937" cy="1993125"/>
          </a:xfrm>
          <a:custGeom>
            <a:rect b="b" l="l" r="r" t="t"/>
            <a:pathLst>
              <a:path extrusionOk="0" h="60568" w="82929">
                <a:moveTo>
                  <a:pt x="0" y="0"/>
                </a:moveTo>
                <a:cubicBezTo>
                  <a:pt x="13812" y="3326"/>
                  <a:pt x="81932" y="9859"/>
                  <a:pt x="82871" y="19954"/>
                </a:cubicBezTo>
                <a:cubicBezTo>
                  <a:pt x="83810" y="30049"/>
                  <a:pt x="18508" y="53799"/>
                  <a:pt x="5635" y="60568"/>
                </a:cubicBezTo>
              </a:path>
            </a:pathLst>
          </a:custGeom>
          <a:noFill/>
          <a:ln cap="flat" cmpd="sng" w="12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0" name="Google Shape;140;p26"/>
          <p:cNvSpPr/>
          <p:nvPr/>
        </p:nvSpPr>
        <p:spPr>
          <a:xfrm rot="-10416849">
            <a:off x="4490555" y="2265122"/>
            <a:ext cx="2728917" cy="1992941"/>
          </a:xfrm>
          <a:custGeom>
            <a:rect b="b" l="l" r="r" t="t"/>
            <a:pathLst>
              <a:path extrusionOk="0" h="60568" w="82929">
                <a:moveTo>
                  <a:pt x="0" y="0"/>
                </a:moveTo>
                <a:cubicBezTo>
                  <a:pt x="13812" y="3326"/>
                  <a:pt x="81932" y="9859"/>
                  <a:pt x="82871" y="19954"/>
                </a:cubicBezTo>
                <a:cubicBezTo>
                  <a:pt x="83810" y="30049"/>
                  <a:pt x="18508" y="53799"/>
                  <a:pt x="5635" y="60568"/>
                </a:cubicBezTo>
              </a:path>
            </a:pathLst>
          </a:custGeom>
          <a:noFill/>
          <a:ln cap="flat" cmpd="sng" w="12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1" name="Google Shape;141;p26"/>
          <p:cNvSpPr/>
          <p:nvPr/>
        </p:nvSpPr>
        <p:spPr>
          <a:xfrm rot="446268">
            <a:off x="412614" y="2513926"/>
            <a:ext cx="3283210" cy="2143998"/>
          </a:xfrm>
          <a:custGeom>
            <a:rect b="b" l="l" r="r" t="t"/>
            <a:pathLst>
              <a:path extrusionOk="0" h="60568" w="82929">
                <a:moveTo>
                  <a:pt x="0" y="0"/>
                </a:moveTo>
                <a:cubicBezTo>
                  <a:pt x="13812" y="3326"/>
                  <a:pt x="81932" y="9859"/>
                  <a:pt x="82871" y="19954"/>
                </a:cubicBezTo>
                <a:cubicBezTo>
                  <a:pt x="83810" y="30049"/>
                  <a:pt x="18508" y="53799"/>
                  <a:pt x="5635" y="60568"/>
                </a:cubicBezTo>
              </a:path>
            </a:pathLst>
          </a:custGeom>
          <a:noFill/>
          <a:ln cap="flat" cmpd="sng" w="150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2" name="Google Shape;142;p26"/>
          <p:cNvSpPr/>
          <p:nvPr/>
        </p:nvSpPr>
        <p:spPr>
          <a:xfrm rot="-10416928">
            <a:off x="5048745" y="2346329"/>
            <a:ext cx="3283204" cy="1935954"/>
          </a:xfrm>
          <a:custGeom>
            <a:rect b="b" l="l" r="r" t="t"/>
            <a:pathLst>
              <a:path extrusionOk="0" h="60568" w="82929">
                <a:moveTo>
                  <a:pt x="0" y="0"/>
                </a:moveTo>
                <a:cubicBezTo>
                  <a:pt x="13812" y="3326"/>
                  <a:pt x="81932" y="9859"/>
                  <a:pt x="82871" y="19954"/>
                </a:cubicBezTo>
                <a:cubicBezTo>
                  <a:pt x="83810" y="30049"/>
                  <a:pt x="18508" y="53799"/>
                  <a:pt x="5635" y="60568"/>
                </a:cubicBezTo>
              </a:path>
            </a:pathLst>
          </a:custGeom>
          <a:noFill/>
          <a:ln cap="flat" cmpd="sng" w="150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3" name="Google Shape;143;p26"/>
          <p:cNvSpPr txBox="1"/>
          <p:nvPr/>
        </p:nvSpPr>
        <p:spPr>
          <a:xfrm>
            <a:off x="2444447" y="1484625"/>
            <a:ext cx="4344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 Systematic Blueprint for Building High-Potential New Businesses and Brands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6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/>
        </p:nvSpPr>
        <p:spPr>
          <a:xfrm>
            <a:off x="250925" y="184225"/>
            <a:ext cx="8588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Business creation is often guided by intuition. Repeatable Consistent Success Requires a System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486450" y="1603250"/>
            <a:ext cx="3048600" cy="11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Key Challenges </a:t>
            </a:r>
            <a:endParaRPr b="1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17500" lvl="0" marL="45720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●"/>
            </a:pPr>
            <a:r>
              <a:rPr lang="en-GB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Unclear Market Focus 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17500" lvl="0" marL="45720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●"/>
            </a:pPr>
            <a:r>
              <a:rPr lang="en-GB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Weak differentiation 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17500" lvl="0" marL="45720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●"/>
            </a:pPr>
            <a:r>
              <a:rPr lang="en-GB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Wasted resources 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17500" lvl="0" marL="45720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●"/>
            </a:pPr>
            <a:r>
              <a:rPr lang="en-GB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Risk for failure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4572000" y="1603250"/>
            <a:ext cx="4164300" cy="11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The Solution: The ISTP Framework </a:t>
            </a:r>
            <a:endParaRPr b="1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17500" lvl="0" marL="45720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●"/>
            </a:pPr>
            <a:r>
              <a:rPr lang="en-GB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 repeatable engine for creating new ventures with precision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17500" lvl="0" marL="45720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ubik"/>
              <a:buChar char="●"/>
            </a:pPr>
            <a:r>
              <a:rPr lang="en-GB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While de-risking the path to market and reducing adjustments and inefficiencies.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1" name="Google Shape;151;p27"/>
          <p:cNvSpPr/>
          <p:nvPr/>
        </p:nvSpPr>
        <p:spPr>
          <a:xfrm rot="5400000">
            <a:off x="3083850" y="1955750"/>
            <a:ext cx="1317900" cy="4155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7"/>
          <p:cNvSpPr/>
          <p:nvPr/>
        </p:nvSpPr>
        <p:spPr>
          <a:xfrm>
            <a:off x="608207" y="3124518"/>
            <a:ext cx="4947800" cy="1569450"/>
          </a:xfrm>
          <a:custGeom>
            <a:rect b="b" l="l" r="r" t="t"/>
            <a:pathLst>
              <a:path extrusionOk="0" h="62778" w="197912">
                <a:moveTo>
                  <a:pt x="34049" y="28239"/>
                </a:moveTo>
                <a:cubicBezTo>
                  <a:pt x="33423" y="25892"/>
                  <a:pt x="31232" y="12902"/>
                  <a:pt x="30293" y="14154"/>
                </a:cubicBezTo>
                <a:cubicBezTo>
                  <a:pt x="29354" y="15406"/>
                  <a:pt x="26224" y="35204"/>
                  <a:pt x="28415" y="35752"/>
                </a:cubicBezTo>
                <a:cubicBezTo>
                  <a:pt x="30606" y="36300"/>
                  <a:pt x="44496" y="21509"/>
                  <a:pt x="43439" y="17440"/>
                </a:cubicBezTo>
                <a:cubicBezTo>
                  <a:pt x="42383" y="13371"/>
                  <a:pt x="25637" y="6250"/>
                  <a:pt x="22076" y="11337"/>
                </a:cubicBezTo>
                <a:cubicBezTo>
                  <a:pt x="18516" y="16424"/>
                  <a:pt x="18516" y="48938"/>
                  <a:pt x="22076" y="47960"/>
                </a:cubicBezTo>
                <a:cubicBezTo>
                  <a:pt x="25637" y="46982"/>
                  <a:pt x="40505" y="5390"/>
                  <a:pt x="43439" y="5468"/>
                </a:cubicBezTo>
                <a:cubicBezTo>
                  <a:pt x="46374" y="5546"/>
                  <a:pt x="42422" y="45729"/>
                  <a:pt x="39683" y="48429"/>
                </a:cubicBezTo>
                <a:cubicBezTo>
                  <a:pt x="36944" y="51129"/>
                  <a:pt x="27476" y="25266"/>
                  <a:pt x="27006" y="21666"/>
                </a:cubicBezTo>
                <a:cubicBezTo>
                  <a:pt x="26537" y="18066"/>
                  <a:pt x="36084" y="23779"/>
                  <a:pt x="36866" y="26831"/>
                </a:cubicBezTo>
                <a:cubicBezTo>
                  <a:pt x="37649" y="29883"/>
                  <a:pt x="34831" y="39782"/>
                  <a:pt x="31701" y="39978"/>
                </a:cubicBezTo>
                <a:cubicBezTo>
                  <a:pt x="28571" y="40174"/>
                  <a:pt x="14955" y="33405"/>
                  <a:pt x="18085" y="28005"/>
                </a:cubicBezTo>
                <a:cubicBezTo>
                  <a:pt x="21215" y="22605"/>
                  <a:pt x="45865" y="2063"/>
                  <a:pt x="50482" y="7580"/>
                </a:cubicBezTo>
                <a:cubicBezTo>
                  <a:pt x="55099" y="13097"/>
                  <a:pt x="51304" y="54728"/>
                  <a:pt x="45787" y="61106"/>
                </a:cubicBezTo>
                <a:cubicBezTo>
                  <a:pt x="40270" y="67484"/>
                  <a:pt x="22311" y="54025"/>
                  <a:pt x="17381" y="45847"/>
                </a:cubicBezTo>
                <a:cubicBezTo>
                  <a:pt x="12451" y="37670"/>
                  <a:pt x="14446" y="19358"/>
                  <a:pt x="16207" y="12041"/>
                </a:cubicBezTo>
                <a:cubicBezTo>
                  <a:pt x="17968" y="4724"/>
                  <a:pt x="25441" y="-3845"/>
                  <a:pt x="27945" y="1946"/>
                </a:cubicBezTo>
                <a:cubicBezTo>
                  <a:pt x="30449" y="7737"/>
                  <a:pt x="35849" y="37787"/>
                  <a:pt x="31232" y="46786"/>
                </a:cubicBezTo>
                <a:cubicBezTo>
                  <a:pt x="26615" y="55785"/>
                  <a:pt x="2121" y="60167"/>
                  <a:pt x="243" y="55941"/>
                </a:cubicBezTo>
                <a:cubicBezTo>
                  <a:pt x="-1635" y="51715"/>
                  <a:pt x="11003" y="24248"/>
                  <a:pt x="19963" y="21431"/>
                </a:cubicBezTo>
                <a:cubicBezTo>
                  <a:pt x="28923" y="18614"/>
                  <a:pt x="45005" y="38061"/>
                  <a:pt x="54004" y="39039"/>
                </a:cubicBezTo>
                <a:cubicBezTo>
                  <a:pt x="63003" y="40017"/>
                  <a:pt x="64842" y="29257"/>
                  <a:pt x="73958" y="27300"/>
                </a:cubicBezTo>
                <a:cubicBezTo>
                  <a:pt x="83075" y="25344"/>
                  <a:pt x="88044" y="27496"/>
                  <a:pt x="108703" y="27300"/>
                </a:cubicBezTo>
                <a:cubicBezTo>
                  <a:pt x="129362" y="27105"/>
                  <a:pt x="183045" y="26323"/>
                  <a:pt x="197913" y="26127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350" y="3021150"/>
            <a:ext cx="1569450" cy="156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6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250925" y="184225"/>
            <a:ext cx="8588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 Four-Phase Framework from Broad Idea to a Winning Company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159" name="Google Shape;159;p28"/>
          <p:cNvSpPr/>
          <p:nvPr/>
        </p:nvSpPr>
        <p:spPr>
          <a:xfrm>
            <a:off x="314925" y="1558350"/>
            <a:ext cx="665700" cy="3136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8"/>
          <p:cNvSpPr/>
          <p:nvPr/>
        </p:nvSpPr>
        <p:spPr>
          <a:xfrm>
            <a:off x="2946707" y="1855050"/>
            <a:ext cx="574800" cy="2543400"/>
          </a:xfrm>
          <a:prstGeom prst="rect">
            <a:avLst/>
          </a:prstGeom>
          <a:solidFill>
            <a:srgbClr val="76A5A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8"/>
          <p:cNvSpPr/>
          <p:nvPr/>
        </p:nvSpPr>
        <p:spPr>
          <a:xfrm>
            <a:off x="5069303" y="2007100"/>
            <a:ext cx="529500" cy="1950000"/>
          </a:xfrm>
          <a:prstGeom prst="rect">
            <a:avLst/>
          </a:prstGeom>
          <a:solidFill>
            <a:srgbClr val="FFCA37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8"/>
          <p:cNvSpPr/>
          <p:nvPr/>
        </p:nvSpPr>
        <p:spPr>
          <a:xfrm>
            <a:off x="6890990" y="2424300"/>
            <a:ext cx="529500" cy="1404900"/>
          </a:xfrm>
          <a:prstGeom prst="rect">
            <a:avLst/>
          </a:prstGeom>
          <a:solidFill>
            <a:srgbClr val="73737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980625" y="1993200"/>
            <a:ext cx="2337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I: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Industry Insights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1033288" y="2658850"/>
            <a:ext cx="201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right continent.</a:t>
            </a:r>
            <a:endParaRPr i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3521488" y="2097238"/>
            <a:ext cx="2337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II: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3521488" y="2774338"/>
            <a:ext cx="2019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 the Regions.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5681376" y="2007100"/>
            <a:ext cx="1174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III: Targeting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8"/>
          <p:cNvSpPr txBox="1"/>
          <p:nvPr/>
        </p:nvSpPr>
        <p:spPr>
          <a:xfrm>
            <a:off x="5681376" y="2684200"/>
            <a:ext cx="101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the best island.</a:t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7615220" y="2033925"/>
            <a:ext cx="1475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IV: Positioning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7615220" y="2711025"/>
            <a:ext cx="127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your fortress</a:t>
            </a:r>
            <a:endParaRPr i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8175" y="3307775"/>
            <a:ext cx="877199" cy="87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2069" y="3307775"/>
            <a:ext cx="1040375" cy="104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6050" y="3357525"/>
            <a:ext cx="777700" cy="77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53025" y="3400375"/>
            <a:ext cx="631900" cy="63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6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/>
        </p:nvSpPr>
        <p:spPr>
          <a:xfrm>
            <a:off x="1045225" y="288700"/>
            <a:ext cx="889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Phase I: First, Validate the Viability of the Industry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180" name="Google Shape;180;p29"/>
          <p:cNvSpPr/>
          <p:nvPr/>
        </p:nvSpPr>
        <p:spPr>
          <a:xfrm>
            <a:off x="314925" y="904300"/>
            <a:ext cx="665700" cy="3790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9"/>
          <p:cNvSpPr txBox="1"/>
          <p:nvPr/>
        </p:nvSpPr>
        <p:spPr>
          <a:xfrm>
            <a:off x="1045225" y="1039100"/>
            <a:ext cx="7747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Is this an industry worth our investment for the next decade?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82" name="Google Shape;182;p29"/>
          <p:cNvSpPr txBox="1"/>
          <p:nvPr/>
        </p:nvSpPr>
        <p:spPr>
          <a:xfrm>
            <a:off x="1045225" y="2265675"/>
            <a:ext cx="77475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Purpose: 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To define the market, evaluate long-term 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sustainability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, and assess mid-term attractiveness before 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committing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significant resources.</a:t>
            </a:r>
            <a:endParaRPr sz="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3" name="Google Shape;183;p29"/>
          <p:cNvSpPr txBox="1"/>
          <p:nvPr/>
        </p:nvSpPr>
        <p:spPr>
          <a:xfrm>
            <a:off x="1045225" y="3302950"/>
            <a:ext cx="774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Output: 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 clear ‘Proceed’ or ‘Stop’ Decision</a:t>
            </a:r>
            <a:endParaRPr sz="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25" y="27100"/>
            <a:ext cx="877199" cy="87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6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/>
        </p:nvSpPr>
        <p:spPr>
          <a:xfrm>
            <a:off x="250925" y="184225"/>
            <a:ext cx="889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We analyse the market at three levels of </a:t>
            </a:r>
            <a:r>
              <a:rPr b="1" lang="en-GB" sz="2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altitude</a:t>
            </a:r>
            <a:r>
              <a:rPr b="1" lang="en-GB" sz="2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125400" y="1075400"/>
            <a:ext cx="336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sz="1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Define the Market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2979425" y="1075400"/>
            <a:ext cx="27372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2. Assess Sustainability (10+ Years)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5866203" y="1075404"/>
            <a:ext cx="33627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3. Assess Attractiveness (3-5 years)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93" name="Google Shape;193;p30"/>
          <p:cNvSpPr txBox="1"/>
          <p:nvPr/>
        </p:nvSpPr>
        <p:spPr>
          <a:xfrm>
            <a:off x="250925" y="1352600"/>
            <a:ext cx="242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with a precise definition.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0"/>
          <p:cNvSpPr txBox="1"/>
          <p:nvPr/>
        </p:nvSpPr>
        <p:spPr>
          <a:xfrm>
            <a:off x="250925" y="3890700"/>
            <a:ext cx="2422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Include: Customer Groups, Channels, and Categories/Solutions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2979425" y="1739950"/>
            <a:ext cx="2422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broad structural trends that support long-term growth.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3216600" y="3176125"/>
            <a:ext cx="24222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Demographic Trends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Regulatory Changes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Adoption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Values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5866200" y="1821100"/>
            <a:ext cx="2422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Quantify the immediate opportunity.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0"/>
          <p:cNvSpPr txBox="1"/>
          <p:nvPr/>
        </p:nvSpPr>
        <p:spPr>
          <a:xfrm>
            <a:off x="6336450" y="3176125"/>
            <a:ext cx="2422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Size (total value)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Growth Rate (CAGR)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827325" y="2140650"/>
            <a:ext cx="1140000" cy="3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Healthcare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0"/>
          <p:cNvSpPr txBox="1"/>
          <p:nvPr/>
        </p:nvSpPr>
        <p:spPr>
          <a:xfrm>
            <a:off x="665925" y="2844075"/>
            <a:ext cx="1462800" cy="78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Diabetes Management Solutions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30"/>
          <p:cNvCxnSpPr/>
          <p:nvPr/>
        </p:nvCxnSpPr>
        <p:spPr>
          <a:xfrm>
            <a:off x="2739250" y="969825"/>
            <a:ext cx="23700" cy="39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30"/>
          <p:cNvCxnSpPr/>
          <p:nvPr/>
        </p:nvCxnSpPr>
        <p:spPr>
          <a:xfrm>
            <a:off x="5622063" y="969825"/>
            <a:ext cx="23700" cy="39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30"/>
          <p:cNvCxnSpPr>
            <a:stCxn id="199" idx="2"/>
            <a:endCxn id="200" idx="0"/>
          </p:cNvCxnSpPr>
          <p:nvPr/>
        </p:nvCxnSpPr>
        <p:spPr>
          <a:xfrm>
            <a:off x="1397325" y="2525550"/>
            <a:ext cx="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4" name="Google Shape;20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9389" y="3230650"/>
            <a:ext cx="277200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9414" y="4626100"/>
            <a:ext cx="277200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9414" y="3695800"/>
            <a:ext cx="277200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9389" y="4160950"/>
            <a:ext cx="277200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6198" y="3192250"/>
            <a:ext cx="354000" cy="3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6200" y="3657400"/>
            <a:ext cx="354000" cy="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6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/>
        </p:nvSpPr>
        <p:spPr>
          <a:xfrm>
            <a:off x="1522375" y="178600"/>
            <a:ext cx="67932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Phase II: Deconstruct the Industry through Segmentation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15" name="Google Shape;215;p31"/>
          <p:cNvSpPr/>
          <p:nvPr/>
        </p:nvSpPr>
        <p:spPr>
          <a:xfrm>
            <a:off x="314925" y="904300"/>
            <a:ext cx="665700" cy="3790800"/>
          </a:xfrm>
          <a:prstGeom prst="rect">
            <a:avLst/>
          </a:prstGeom>
          <a:solidFill>
            <a:srgbClr val="76A5A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1"/>
          <p:cNvSpPr txBox="1"/>
          <p:nvPr/>
        </p:nvSpPr>
        <p:spPr>
          <a:xfrm>
            <a:off x="1045225" y="1039100"/>
            <a:ext cx="67053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Where are all the possible markets we could enter?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17" name="Google Shape;217;p31"/>
          <p:cNvSpPr txBox="1"/>
          <p:nvPr/>
        </p:nvSpPr>
        <p:spPr>
          <a:xfrm>
            <a:off x="1045225" y="3631350"/>
            <a:ext cx="77475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Purpose: 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To map out all possible customer groups, 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competitors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, and 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solutions types available within the defined industry.</a:t>
            </a:r>
            <a:endParaRPr sz="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1045225" y="4336125"/>
            <a:ext cx="774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Output: 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 comprehensive catalogue of potential market segments.</a:t>
            </a:r>
            <a:endParaRPr sz="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19" name="Google Shape;219;p31"/>
          <p:cNvSpPr txBox="1"/>
          <p:nvPr/>
        </p:nvSpPr>
        <p:spPr>
          <a:xfrm>
            <a:off x="1045225" y="2661100"/>
            <a:ext cx="497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Mapping out all the islands.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20" name="Google Shape;22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81" y="-58850"/>
            <a:ext cx="1040375" cy="104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6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/>
        </p:nvSpPr>
        <p:spPr>
          <a:xfrm>
            <a:off x="250925" y="184225"/>
            <a:ext cx="88932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The Most Actionable Segments are first built around customer solutions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2957810" y="2678949"/>
            <a:ext cx="2075700" cy="746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6450" lIns="76450" spcFirstLastPara="1" rIns="76450" wrap="square" tIns="764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2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Diabetes Management</a:t>
            </a:r>
            <a:endParaRPr sz="19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2"/>
          <p:cNvSpPr txBox="1"/>
          <p:nvPr/>
        </p:nvSpPr>
        <p:spPr>
          <a:xfrm>
            <a:off x="4891003" y="1615625"/>
            <a:ext cx="2645700" cy="63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6450" lIns="76450" spcFirstLastPara="1" rIns="76450" wrap="square" tIns="764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Clinical Solutions </a:t>
            </a:r>
            <a:endParaRPr sz="175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Labs, consultations</a:t>
            </a:r>
            <a:endParaRPr sz="13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2"/>
          <p:cNvSpPr txBox="1"/>
          <p:nvPr/>
        </p:nvSpPr>
        <p:spPr>
          <a:xfrm>
            <a:off x="1211303" y="1615635"/>
            <a:ext cx="2075700" cy="63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6450" lIns="76450" spcFirstLastPara="1" rIns="76450" wrap="square" tIns="764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Drug Market</a:t>
            </a:r>
            <a:r>
              <a:rPr lang="en-GB" sz="175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75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Medication, Insulin</a:t>
            </a:r>
            <a:endParaRPr sz="13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2"/>
          <p:cNvSpPr txBox="1"/>
          <p:nvPr/>
        </p:nvSpPr>
        <p:spPr>
          <a:xfrm>
            <a:off x="1211300" y="3858386"/>
            <a:ext cx="2075700" cy="63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6450" lIns="76450" spcFirstLastPara="1" rIns="76450" wrap="square" tIns="764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Clinical Nutrition</a:t>
            </a:r>
            <a:endParaRPr sz="175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Meal replacements</a:t>
            </a:r>
            <a:endParaRPr sz="13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2"/>
          <p:cNvSpPr txBox="1"/>
          <p:nvPr/>
        </p:nvSpPr>
        <p:spPr>
          <a:xfrm>
            <a:off x="5175988" y="3858368"/>
            <a:ext cx="2075700" cy="63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6450" lIns="76450" spcFirstLastPara="1" rIns="76450" wrap="square" tIns="764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Solutions</a:t>
            </a:r>
            <a:endParaRPr sz="175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CGM, Glucometers</a:t>
            </a:r>
            <a:endParaRPr sz="13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32"/>
          <p:cNvCxnSpPr>
            <a:stCxn id="229" idx="0"/>
            <a:endCxn id="226" idx="1"/>
          </p:cNvCxnSpPr>
          <p:nvPr/>
        </p:nvCxnSpPr>
        <p:spPr>
          <a:xfrm rot="-5400000">
            <a:off x="2200400" y="3101036"/>
            <a:ext cx="806100" cy="708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32"/>
          <p:cNvCxnSpPr>
            <a:stCxn id="228" idx="2"/>
            <a:endCxn id="226" idx="1"/>
          </p:cNvCxnSpPr>
          <p:nvPr/>
        </p:nvCxnSpPr>
        <p:spPr>
          <a:xfrm flipH="1" rot="-5400000">
            <a:off x="2200403" y="2294985"/>
            <a:ext cx="806100" cy="708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2"/>
          <p:cNvCxnSpPr>
            <a:stCxn id="227" idx="2"/>
            <a:endCxn id="226" idx="3"/>
          </p:cNvCxnSpPr>
          <p:nvPr/>
        </p:nvCxnSpPr>
        <p:spPr>
          <a:xfrm rot="5400000">
            <a:off x="5220703" y="2059175"/>
            <a:ext cx="806100" cy="1180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32"/>
          <p:cNvCxnSpPr>
            <a:stCxn id="230" idx="0"/>
            <a:endCxn id="226" idx="3"/>
          </p:cNvCxnSpPr>
          <p:nvPr/>
        </p:nvCxnSpPr>
        <p:spPr>
          <a:xfrm flipH="1" rot="5400000">
            <a:off x="5220688" y="2865218"/>
            <a:ext cx="806100" cy="1180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5" name="Google Shape;23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475" y="1615625"/>
            <a:ext cx="597075" cy="5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900" y="3875138"/>
            <a:ext cx="597075" cy="5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6638" y="1665563"/>
            <a:ext cx="530725" cy="53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6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 txBox="1"/>
          <p:nvPr/>
        </p:nvSpPr>
        <p:spPr>
          <a:xfrm>
            <a:off x="250925" y="184225"/>
            <a:ext cx="889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Phase III: Select the Single Best Segment Objectively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43" name="Google Shape;243;p33"/>
          <p:cNvSpPr txBox="1"/>
          <p:nvPr/>
        </p:nvSpPr>
        <p:spPr>
          <a:xfrm>
            <a:off x="1045225" y="1039100"/>
            <a:ext cx="67053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Which specific market gives us the highest probability of winning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44" name="Google Shape;244;p33"/>
          <p:cNvSpPr txBox="1"/>
          <p:nvPr/>
        </p:nvSpPr>
        <p:spPr>
          <a:xfrm>
            <a:off x="1045225" y="3631350"/>
            <a:ext cx="77475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Purpose: 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To 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evaluate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each segment objectively and choose the one that best first your strategy, capability, and current business stage.</a:t>
            </a:r>
            <a:endParaRPr sz="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45" name="Google Shape;245;p33"/>
          <p:cNvSpPr txBox="1"/>
          <p:nvPr/>
        </p:nvSpPr>
        <p:spPr>
          <a:xfrm>
            <a:off x="1045225" y="4336125"/>
            <a:ext cx="774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Output: 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One winning ‘entry market’</a:t>
            </a:r>
            <a:endParaRPr sz="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46" name="Google Shape;246;p33"/>
          <p:cNvSpPr txBox="1"/>
          <p:nvPr/>
        </p:nvSpPr>
        <p:spPr>
          <a:xfrm>
            <a:off x="1045225" y="2661100"/>
            <a:ext cx="497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Choosing the best island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47" name="Google Shape;247;p33"/>
          <p:cNvSpPr/>
          <p:nvPr/>
        </p:nvSpPr>
        <p:spPr>
          <a:xfrm>
            <a:off x="250925" y="914575"/>
            <a:ext cx="529500" cy="3683100"/>
          </a:xfrm>
          <a:prstGeom prst="rect">
            <a:avLst/>
          </a:prstGeom>
          <a:solidFill>
            <a:srgbClr val="FFCA37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6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 txBox="1"/>
          <p:nvPr/>
        </p:nvSpPr>
        <p:spPr>
          <a:xfrm>
            <a:off x="250925" y="184225"/>
            <a:ext cx="88932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 Consistent Quantitative framework Ensure the Right Choice for the Right Reasons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53" name="Google Shape;253;p34"/>
          <p:cNvSpPr txBox="1"/>
          <p:nvPr/>
        </p:nvSpPr>
        <p:spPr>
          <a:xfrm>
            <a:off x="494800" y="1622950"/>
            <a:ext cx="3527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AutoNum type="arabicPeriod"/>
            </a:pPr>
            <a:r>
              <a:rPr lang="en-GB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 Power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size (TAM, SAM, Revenue)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Gorwth Rate (CAGR)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Profitability/Maign (Gross 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margins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Ebitda, net margins)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4"/>
          <p:cNvSpPr txBox="1"/>
          <p:nvPr/>
        </p:nvSpPr>
        <p:spPr>
          <a:xfrm>
            <a:off x="4150425" y="1622950"/>
            <a:ext cx="4920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Market Segments &amp; Structure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Competitive intensity (no. of players, fragmentation)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Entry barriers (regulatory, needs , tech)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segmentation Quality (How profitable are the customer segments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4"/>
          <p:cNvSpPr txBox="1"/>
          <p:nvPr/>
        </p:nvSpPr>
        <p:spPr>
          <a:xfrm>
            <a:off x="1785225" y="3354750"/>
            <a:ext cx="57042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Structural Dynamics (Long-Term Power)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Regulatory Environment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it supportive, neutral or restritctive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Social, Demographic and Macro Trends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Aging population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Urbanisation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○"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Price sensitivity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6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/>
          <p:nvPr/>
        </p:nvSpPr>
        <p:spPr>
          <a:xfrm>
            <a:off x="250925" y="184225"/>
            <a:ext cx="88932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However</a:t>
            </a:r>
            <a:r>
              <a:rPr b="1" lang="en-GB" sz="2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, the framework requires extensive research. A good much more executable framework would be: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61" name="Google Shape;261;p35"/>
          <p:cNvSpPr txBox="1"/>
          <p:nvPr/>
        </p:nvSpPr>
        <p:spPr>
          <a:xfrm>
            <a:off x="494800" y="1622950"/>
            <a:ext cx="3527100" cy="93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AutoNum type="arabicPeriod"/>
            </a:pPr>
            <a:r>
              <a:rPr lang="en-GB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Market-insight fit.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Measuring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strategic relevance of market with the insights + gaps of opportunity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5"/>
          <p:cNvSpPr txBox="1"/>
          <p:nvPr/>
        </p:nvSpPr>
        <p:spPr>
          <a:xfrm>
            <a:off x="4150425" y="1622950"/>
            <a:ext cx="3873300" cy="738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Market Attractiveness.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Barod numbers of market size and growth potential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5"/>
          <p:cNvSpPr txBox="1"/>
          <p:nvPr/>
        </p:nvSpPr>
        <p:spPr>
          <a:xfrm>
            <a:off x="4150425" y="2740575"/>
            <a:ext cx="3873300" cy="1139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Capability Feasibility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hard is it to start operating and winning within the market. Minimum requirements and key 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factors.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5"/>
          <p:cNvSpPr txBox="1"/>
          <p:nvPr/>
        </p:nvSpPr>
        <p:spPr>
          <a:xfrm>
            <a:off x="494800" y="2740575"/>
            <a:ext cx="3527100" cy="738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Investment Barriers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cost of entry. CapEx, time to Market and NPV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6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6"/>
          <p:cNvSpPr txBox="1"/>
          <p:nvPr/>
        </p:nvSpPr>
        <p:spPr>
          <a:xfrm>
            <a:off x="250925" y="184225"/>
            <a:ext cx="88932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The “right” </a:t>
            </a:r>
            <a:r>
              <a:rPr b="1" lang="en-GB" sz="2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choice depends on the current state of the business.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70" name="Google Shape;270;p36"/>
          <p:cNvSpPr txBox="1"/>
          <p:nvPr/>
        </p:nvSpPr>
        <p:spPr>
          <a:xfrm>
            <a:off x="250925" y="1195125"/>
            <a:ext cx="8893200" cy="892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Each Factor is important, it should be noted that whichever is most important is mostly dependent on the business e.g.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1" name="Google Shape;271;p36"/>
          <p:cNvGraphicFramePr/>
          <p:nvPr/>
        </p:nvGraphicFramePr>
        <p:xfrm>
          <a:off x="715000" y="334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{686120E8-661B-42B5-9AA2-B65FCCC5386C}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Primary Focus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Secondary Focus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For Startups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Market-insight Fit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Growth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For Mid-Sized Companies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Investment Ease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Key Success Factors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For Large Companies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Portfolio Synergy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Market Size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/>
          <p:nvPr/>
        </p:nvSpPr>
        <p:spPr>
          <a:xfrm>
            <a:off x="250925" y="184225"/>
            <a:ext cx="88932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Phase IV: Design Your Strategy to Dominate the Chosen Market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277" name="Google Shape;277;p37"/>
          <p:cNvSpPr/>
          <p:nvPr/>
        </p:nvSpPr>
        <p:spPr>
          <a:xfrm>
            <a:off x="314925" y="904300"/>
            <a:ext cx="665700" cy="379080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7"/>
          <p:cNvSpPr txBox="1"/>
          <p:nvPr/>
        </p:nvSpPr>
        <p:spPr>
          <a:xfrm>
            <a:off x="1045225" y="1039100"/>
            <a:ext cx="670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How will we win?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79" name="Google Shape;279;p37"/>
          <p:cNvSpPr txBox="1"/>
          <p:nvPr/>
        </p:nvSpPr>
        <p:spPr>
          <a:xfrm>
            <a:off x="1045225" y="3631350"/>
            <a:ext cx="77475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Purpose: 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To understand the selected market deeply and build a sustainable competitive advantage</a:t>
            </a:r>
            <a:endParaRPr sz="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80" name="Google Shape;280;p37"/>
          <p:cNvSpPr txBox="1"/>
          <p:nvPr/>
        </p:nvSpPr>
        <p:spPr>
          <a:xfrm>
            <a:off x="1045225" y="4336125"/>
            <a:ext cx="77475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Output: 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 clear competitive 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position</a:t>
            </a:r>
            <a:r>
              <a:rPr lang="en-GB" sz="1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, product strategy and business structure.</a:t>
            </a:r>
            <a:endParaRPr sz="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81" name="Google Shape;281;p37"/>
          <p:cNvSpPr txBox="1"/>
          <p:nvPr/>
        </p:nvSpPr>
        <p:spPr>
          <a:xfrm>
            <a:off x="1045225" y="2661100"/>
            <a:ext cx="497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Building the fortress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6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8"/>
          <p:cNvSpPr txBox="1"/>
          <p:nvPr/>
        </p:nvSpPr>
        <p:spPr>
          <a:xfrm>
            <a:off x="250925" y="184225"/>
            <a:ext cx="88932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With a target selected, we repear teh process until we gain micro-focus</a:t>
            </a:r>
            <a:endParaRPr b="1" sz="700">
              <a:solidFill>
                <a:schemeClr val="dk1"/>
              </a:solidFill>
            </a:endParaRPr>
          </a:p>
        </p:txBody>
      </p:sp>
      <p:pic>
        <p:nvPicPr>
          <p:cNvPr id="287" name="Google Shape;28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75" y="1081625"/>
            <a:ext cx="9144000" cy="406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DED6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25" y="0"/>
            <a:ext cx="92154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